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685800"/>
            <a:ext cx="2834640" cy="2834640"/>
          </a:xfrm>
          <a:prstGeom prst="ellipse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325880"/>
            <a:ext cx="1554480" cy="1554480"/>
          </a:xfrm>
          <a:prstGeom prst="ellipse">
            <a:avLst/>
          </a:prstGeom>
          <a:solidFill>
            <a:srgbClr val="232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8458200" y="2743200"/>
            <a:ext cx="3017520" cy="3246120"/>
          </a:xfrm>
          <a:prstGeom prst="trapezoid">
            <a:avLst/>
          </a:prstGeom>
          <a:solidFill>
            <a:srgbClr val="DE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0" y="2514600"/>
            <a:ext cx="1097280" cy="685800"/>
          </a:xfrm>
          <a:prstGeom prst="rect">
            <a:avLst/>
          </a:prstGeom>
          <a:solidFill>
            <a:srgbClr val="DE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31520"/>
            <a:ext cx="6309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BECD7E"/>
                </a:solidFill>
                <a:latin typeface="Aptos"/>
              </a:rPr>
              <a:t>MĀRKETINGS UN ZĪMOLVEDĪBA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58368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Aptos"/>
              </a:rPr>
              <a:t>STELLA
McCARTNEY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794760"/>
            <a:ext cx="60350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200" b="0" i="0">
                <a:solidFill>
                  <a:srgbClr val="DECFB8"/>
                </a:solidFill>
                <a:latin typeface="Aptos"/>
              </a:rPr>
              <a:t>Ilgtspējīga greznība un modes zīmola stāsts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4360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Aptos"/>
              </a:rPr>
              <a:t>Prezentācija •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6263640"/>
            <a:ext cx="3383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32722"/>
                </a:solidFill>
                <a:latin typeface="Aptos"/>
              </a:rPr>
              <a:t>DESIGN WITH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455B45"/>
                </a:solidFill>
                <a:latin typeface="Aptos"/>
              </a:rPr>
              <a:t>02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686C61"/>
                </a:solidFill>
                <a:latin typeface="Aptos"/>
              </a:rPr>
              <a:t>DIZAINERE UN ZĪMOLS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232722"/>
                </a:solidFill>
                <a:latin typeface="Aptos"/>
              </a:rPr>
              <a:t>Kas ir Stella McCartney?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303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000" b="1" i="0">
                <a:solidFill>
                  <a:srgbClr val="455B45"/>
                </a:solidFill>
                <a:latin typeface="Aptos"/>
              </a:rPr>
              <a:t>Britu modes dizainere, kas apvieno luksusa estētiku ar ētiskām vērtībām.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6207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5074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1995. gadā absolvējusi Central Saint Martins.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3931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5074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2001. gadā Parīzē prezentēja pirmo kolekciju ar savu vārdu.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41655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50749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Kopš zīmola sākuma dizainos neizmanto dzīvnieku ādu, kažokādas, spalvas vai eksotiskās ādas.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221992"/>
            <a:ext cx="444398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Zīmola būtība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679192"/>
            <a:ext cx="4443983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Mūsdienīgs luksuss, kas neatsakās no stila, bet meklē atbildīgākus materiālus.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730752"/>
            <a:ext cx="444398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Atpazīstams produkts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187952"/>
            <a:ext cx="4443983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Falabella soma — viens no zīmola ikoniskajiem aksesuāriem.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07492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5239512"/>
            <a:ext cx="444398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Partnerības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696712"/>
            <a:ext cx="4443983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Piemēram, adidas sporta apģērbu un apavu kolekcijas.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800" b="1" i="0">
                <a:solidFill>
                  <a:srgbClr val="686C61"/>
                </a:solidFill>
                <a:latin typeface="Aptos"/>
              </a:rPr>
              <a:t>STELLA McCARTNEY  •  MĀRKETINGS UN ZĪMOLVEDĪBA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455B45"/>
                </a:solidFill>
                <a:latin typeface="Aptos"/>
              </a:rPr>
              <a:t>03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686C61"/>
                </a:solidFill>
                <a:latin typeface="Aptos"/>
              </a:rPr>
              <a:t>VIZUĀLĀ VALODA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232722"/>
                </a:solidFill>
                <a:latin typeface="Aptos"/>
              </a:rPr>
              <a:t>Zīmola identitāte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937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000" b="1" i="0">
                <a:solidFill>
                  <a:srgbClr val="455B45"/>
                </a:solidFill>
                <a:latin typeface="Aptos"/>
              </a:rPr>
              <a:t>Kā zīmols izskatās un kādu sajūtu rada?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6207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709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Tīras līnijas un mūsdienīgs, pārliecināts siluets.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93591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47091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Luksusa kvalitāte ar praktisku, ikdienā valkājamu dizainu.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2511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7091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Dabas un dzīvnieku aizsardzības vērtības ir daļa no zīmola identitātes, nevis tikai reklāmas sauklis.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686C61"/>
                </a:solidFill>
                <a:latin typeface="Aptos"/>
              </a:rPr>
              <a:t>VIZUĀLĀ PALETE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06040"/>
            <a:ext cx="1024128" cy="1325880"/>
          </a:xfrm>
          <a:prstGeom prst="roundRect">
            <a:avLst/>
          </a:prstGeom>
          <a:solidFill>
            <a:srgbClr val="232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11155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32722"/>
                </a:solidFill>
                <a:latin typeface="Aptos"/>
              </a:rPr>
              <a:t>Pārliecība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2606040"/>
            <a:ext cx="1024128" cy="1325880"/>
          </a:xfrm>
          <a:prstGeom prst="roundRect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4069080"/>
            <a:ext cx="11155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32722"/>
                </a:solidFill>
                <a:latin typeface="Aptos"/>
              </a:rPr>
              <a:t>Daba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14816" y="2606040"/>
            <a:ext cx="1024128" cy="1325880"/>
          </a:xfrm>
          <a:prstGeom prst="roundRect">
            <a:avLst/>
          </a:prstGeom>
          <a:solidFill>
            <a:srgbClr val="DEC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9096" y="4069080"/>
            <a:ext cx="11155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32722"/>
                </a:solidFill>
                <a:latin typeface="Aptos"/>
              </a:rPr>
              <a:t>Dabiski materiāli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21824" y="2606040"/>
            <a:ext cx="1024128" cy="1325880"/>
          </a:xfrm>
          <a:prstGeom prst="round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6104" y="4069080"/>
            <a:ext cx="111556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32722"/>
                </a:solidFill>
                <a:latin typeface="Aptos"/>
              </a:rPr>
              <a:t>Inovācija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892040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5056631"/>
            <a:ext cx="42611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Zīmola solījums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5513831"/>
            <a:ext cx="4261103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Vēlama mode ar mazāku kaitējumu planētai un dzīvniekiem.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800" b="1" i="0">
                <a:solidFill>
                  <a:srgbClr val="686C61"/>
                </a:solidFill>
                <a:latin typeface="Aptos"/>
              </a:rPr>
              <a:t>STELLA McCARTNEY  •  MĀRKETINGS UN ZĪMOLVEDĪBA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455B45"/>
                </a:solidFill>
                <a:latin typeface="Aptos"/>
              </a:rPr>
              <a:t>04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686C61"/>
                </a:solidFill>
                <a:latin typeface="Aptos"/>
              </a:rPr>
              <a:t>KĀPĒC ZĪMOLS ATŠĶIRAS?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232722"/>
                </a:solidFill>
                <a:latin typeface="Aptos"/>
              </a:rPr>
              <a:t>Unikālā vērtība un ilgtspēja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1. Materiāli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307238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Organiskā kokvilna, pārstrādāti materiāli un alternatīvas dzīvnieku ādai.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2. Dzīvnieku labturība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33472"/>
            <a:ext cx="307238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Kolekcijās netiek izmantotas ādas, kažokādas, spalvas un eksotiskās ādas.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3. Inovācijas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633472"/>
            <a:ext cx="307238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Zīmols izmēģina materiālus no vīnogu ražošanas atlikumiem, aļģēm un sēņu micēlija.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Svarīgi: ilgtspēja ir nepārtraukts process, nevis apgalvojums, ka produkts ir pilnīgi bez ietekmes.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14807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29200"/>
            <a:ext cx="101041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Zīmola atšķirība: ilgtspējas vērtības tiek savienotas ar luksusa dizainu un modes inovācijām.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800" b="1" i="0">
                <a:solidFill>
                  <a:srgbClr val="686C61"/>
                </a:solidFill>
                <a:latin typeface="Aptos"/>
              </a:rPr>
              <a:t>STELLA McCARTNEY  •  MĀRKETINGS UN ZĪMOLVEDĪBA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455B45"/>
                </a:solidFill>
                <a:latin typeface="Aptos"/>
              </a:rPr>
              <a:t>05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686C61"/>
                </a:solidFill>
                <a:latin typeface="Aptos"/>
              </a:rPr>
              <a:t>KAM ŠIS ZĪMOLS DOMĀTS?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232722"/>
                </a:solidFill>
                <a:latin typeface="Aptos"/>
              </a:rPr>
              <a:t>Mērķauditorija un pozicionējums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Mērķauditorija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3072384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• Cilvēki ar augstākiem ienākumiem
• Modes un dizaina interesenti
• Pircēji, kuriem svarīga dzīvnieku labturība un vide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Vajadzības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33472"/>
            <a:ext cx="3072384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• Kvalitāte un oriģināls dizains
• Statuss un pašizpausme
• Atbildīgāka izvēle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Pozicionējums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633472"/>
            <a:ext cx="3072384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Premium/luksusa segments. Cena ir augstāka nekā masu tirgū, un vērtību veido dizains, zīmola reputācija un materiālu inovācijas.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800" b="1" i="0">
                <a:solidFill>
                  <a:srgbClr val="455B45"/>
                </a:solidFill>
                <a:latin typeface="Aptos"/>
              </a:rPr>
              <a:t>Konkurences 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0" i="0">
                <a:solidFill>
                  <a:srgbClr val="232722"/>
                </a:solidFill>
                <a:latin typeface="Aptos"/>
              </a:rPr>
              <a:t>Zīmols konkurē ar citiem luksusa modes namiem, bet atšķiras ar skaidru nostāju pret dzīvnieku izcelsmes materiāliem un uzmanību ilgtspējai.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800" b="1" i="0">
                <a:solidFill>
                  <a:srgbClr val="686C61"/>
                </a:solidFill>
                <a:latin typeface="Aptos"/>
              </a:rPr>
              <a:t>STELLA McCARTNEY  •  MĀRKETINGS UN ZĪMOLVEDĪBA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455B45"/>
                </a:solidFill>
                <a:latin typeface="Aptos"/>
              </a:rPr>
              <a:t>06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686C61"/>
                </a:solidFill>
                <a:latin typeface="Aptos"/>
              </a:rPr>
              <a:t>KUR KLIENTS VAR IEGĀDĀTIES?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232722"/>
                </a:solidFill>
                <a:latin typeface="Aptos"/>
              </a:rPr>
              <a:t>Produktu izplatīšanas kanāli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39112"/>
            <a:ext cx="438912" cy="438912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1645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 b="1" i="0">
                <a:solidFill>
                  <a:srgbClr val="455B45"/>
                </a:solidFill>
                <a:latin typeface="Aptos"/>
              </a:rPr>
              <a:t>Zīmola e-veikals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6492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Tieša piekļuve kolekcijām un informācijai par produktiem.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063240"/>
            <a:ext cx="438912" cy="438912"/>
          </a:xfrm>
          <a:prstGeom prst="ellipse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45536"/>
            <a:ext cx="1645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3272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90088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 b="1" i="0">
                <a:solidFill>
                  <a:srgbClr val="455B45"/>
                </a:solidFill>
                <a:latin typeface="Aptos"/>
              </a:rPr>
              <a:t>Zīmola veikali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90088"/>
            <a:ext cx="6492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Fiziska pieredze, konsultācijas un zīmola atmosfēra.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087368"/>
            <a:ext cx="438912" cy="438912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9664"/>
            <a:ext cx="1645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14216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 b="1" i="0">
                <a:solidFill>
                  <a:srgbClr val="455B45"/>
                </a:solidFill>
                <a:latin typeface="Aptos"/>
              </a:rPr>
              <a:t>Universālveikali un partneri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14216"/>
            <a:ext cx="6492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Plašāka sasniedzamība, sadarbojoties ar mazumtirgotājiem.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111496"/>
            <a:ext cx="438912" cy="438912"/>
          </a:xfrm>
          <a:prstGeom prst="ellipse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93792"/>
            <a:ext cx="1645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32722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38344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 b="1" i="0">
                <a:solidFill>
                  <a:srgbClr val="455B45"/>
                </a:solidFill>
                <a:latin typeface="Aptos"/>
              </a:rPr>
              <a:t>Sadarbības kolekcijas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038344"/>
            <a:ext cx="6492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Piemēram, adidas — piekļuve sporta un aktīvā dzīvesveida auditorijai.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0" i="1">
                <a:solidFill>
                  <a:srgbClr val="686C61"/>
                </a:solidFill>
                <a:latin typeface="Aptos"/>
              </a:rPr>
              <a:t>Kanālu kombinācija apvieno tiešo pārdošanu ar partneru sasniedzamību.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800" b="1" i="0">
                <a:solidFill>
                  <a:srgbClr val="686C61"/>
                </a:solidFill>
                <a:latin typeface="Aptos"/>
              </a:rPr>
              <a:t>STELLA McCARTNEY  •  MĀRKETINGS UN ZĪMOLVEDĪBA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455B45"/>
                </a:solidFill>
                <a:latin typeface="Aptos"/>
              </a:rPr>
              <a:t>07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686C61"/>
                </a:solidFill>
                <a:latin typeface="Aptos"/>
              </a:rPr>
              <a:t>KĀ ZĪMOLS PIESAISTA UZMANĪBU?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232722"/>
                </a:solidFill>
                <a:latin typeface="Aptos"/>
              </a:rPr>
              <a:t>Komunikācija un atpazīstamība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Sociālie tīkli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3072384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Instagram un citi digitālie kanāli demonstrē kolekcijas, kampaņas un zīmola vērtības.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Modes skates un prese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33472"/>
            <a:ext cx="3072384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Kolekciju prezentācijas un modes mediji veido reputāciju un rada interesi.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Sadarbības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633472"/>
            <a:ext cx="3072384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adidas un citi partneri ļauj sasniegt jaunas auditorijas un parādīt inovācijas.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 b="1" i="0">
                <a:solidFill>
                  <a:srgbClr val="455B45"/>
                </a:solidFill>
                <a:latin typeface="Aptos"/>
              </a:rPr>
              <a:t>Iespējamie atpazīstamības veicināšanas pasākumi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73659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10012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Jaunas kolekcijas vai ierobežota izlaiduma produkta atklāšana.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33095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100126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Influenceru un stilistu sadarbības, produktu demonstrācijas un stāsti par materiāliem.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92531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06440"/>
            <a:ext cx="10012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Pop-up veikals vai pasākums par ilgtspējīgu modi un apģērba kopšanu.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800" b="1" i="0">
                <a:solidFill>
                  <a:srgbClr val="686C61"/>
                </a:solidFill>
                <a:latin typeface="Aptos"/>
              </a:rPr>
              <a:t>STELLA McCARTNEY  •  MĀRKETINGS UN ZĪMOLVEDĪBA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455B45"/>
                </a:solidFill>
                <a:latin typeface="Aptos"/>
              </a:rPr>
              <a:t>08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686C61"/>
                </a:solidFill>
                <a:latin typeface="Aptos"/>
              </a:rPr>
              <a:t>KO VAR MĀCĪTIES NO ŠĪ ZĪMOLA?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232722"/>
                </a:solidFill>
                <a:latin typeface="Aptos"/>
              </a:rPr>
              <a:t>Ilgtspējīgi modes biznesa modeļi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Atbildīga ražošana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33472"/>
            <a:ext cx="3072384" cy="11247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Materiālu izvēle un piegādātāju prasības, lai mazinātu ietekmi uz vidi.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Aprites ekonomika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33472"/>
            <a:ext cx="3072384" cy="11247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Produktu atgriešanas, labošanas un tālākpārdošanas iniciatīvas pagarina apģērba dzīves ciklu.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176272"/>
            <a:ext cx="30723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600" b="1" i="0">
                <a:solidFill>
                  <a:srgbClr val="455B45"/>
                </a:solidFill>
                <a:latin typeface="Aptos"/>
              </a:rPr>
              <a:t>Sadarbība inovācijās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633472"/>
            <a:ext cx="3072384" cy="11247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32722"/>
                </a:solidFill>
                <a:latin typeface="Aptos"/>
              </a:rPr>
              <a:t>Partnerības ar materiālu izstrādātājiem ļauj izmēģināt jaunus risinājumus.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700" b="1" i="0">
                <a:solidFill>
                  <a:srgbClr val="455B45"/>
                </a:solidFill>
                <a:latin typeface="Aptos"/>
              </a:rPr>
              <a:t>Ko varētu pārņemt neliels modes zīmols?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91947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10012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Veidot mazākas kolekcijas un izvēlēties izturīgus, viegli kopjamus materiālus.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51383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94960"/>
            <a:ext cx="10012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Piedāvāt apģērba labošanas, maiņas vai atkārtotas pārdošanas iespējas.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6062472"/>
            <a:ext cx="109728" cy="109728"/>
          </a:xfrm>
          <a:prstGeom prst="ellipse">
            <a:avLst/>
          </a:prstGeom>
          <a:solidFill>
            <a:srgbClr val="45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10012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232722"/>
                </a:solidFill>
                <a:latin typeface="Aptos"/>
              </a:rPr>
              <a:t>Atklāti skaidrot materiālu izcelsmi un neizteikt nepamatotus “zaļos” solījumus.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800" b="1" i="0">
                <a:solidFill>
                  <a:srgbClr val="686C61"/>
                </a:solidFill>
                <a:latin typeface="Aptos"/>
              </a:rPr>
              <a:t>STELLA McCARTNEY  •  MĀRKETINGS UN ZĪMOLVEDĪBA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BECD7E"/>
                </a:solidFill>
                <a:latin typeface="Aptos"/>
              </a:rPr>
              <a:t>09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7899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ptos"/>
              </a:rPr>
              <a:t>Secinājumi un avoti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914400" cy="54864"/>
          </a:xfrm>
          <a:prstGeom prst="rect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46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BECD7E"/>
                </a:solidFill>
                <a:latin typeface="Aptos"/>
              </a:rPr>
              <a:t>GALVENĀS ATZIŅAS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50591"/>
            <a:ext cx="109728" cy="109728"/>
          </a:xfrm>
          <a:prstGeom prst="ellipse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800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Aptos"/>
              </a:rPr>
              <a:t>Stella McCartney zīmola identitāti veido luksuss, dizains un ētiskas vērtības.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273552"/>
            <a:ext cx="109728" cy="109728"/>
          </a:xfrm>
          <a:prstGeom prst="ellipse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800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Aptos"/>
              </a:rPr>
              <a:t>Unikālo vērtību stiprina dzīvnieku izcelsmes materiālu aizstāšana un inovācijas.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187952"/>
            <a:ext cx="109728" cy="109728"/>
          </a:xfrm>
          <a:prstGeom prst="ellipse">
            <a:avLst/>
          </a:prstGeom>
          <a:solidFill>
            <a:srgbClr val="BE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4800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Aptos"/>
              </a:rPr>
              <a:t>Zīmola stāsts tiek nodots ar produktiem, partnerībām un digitālo komunikāciju.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BECD7E"/>
                </a:solidFill>
                <a:latin typeface="Aptos"/>
              </a:rPr>
              <a:t>AVOTI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Aptos"/>
              </a:rPr>
              <a:t>Stella McCartney — About Stella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8775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DECFB8"/>
                </a:solidFill>
                <a:latin typeface="Aptos"/>
              </a:rPr>
              <a:t>https://www.stellamccartney.com/us/en/stellas-world/about-stella-mccartney.html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35224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Aptos"/>
              </a:rPr>
              <a:t>Stella McCartney — Our Commitments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82696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DECFB8"/>
                </a:solidFill>
                <a:latin typeface="Aptos"/>
              </a:rPr>
              <a:t>https://www.stellamccartney.com/qa/en/sustainability/our-commitments.html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30168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Aptos"/>
              </a:rPr>
              <a:t>Stella McCartney — Sustainability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77639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DECFB8"/>
                </a:solidFill>
                <a:latin typeface="Aptos"/>
              </a:rPr>
              <a:t>https://www.stellamccartney.com/ie/en/sustainability/sustainability.html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325112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Aptos"/>
              </a:rPr>
              <a:t>Sustainability Statement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72583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DECFB8"/>
                </a:solidFill>
                <a:latin typeface="Aptos"/>
              </a:rPr>
              <a:t>https://www.stellamccartney.com/on/demandware.static/-/Library-Sites-StellaMcCartneySharedLibrary/default/dw4daf396a/report/SMC25_2025_10_SMC_Sustainability_Statement_2024_v2.pdf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515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1" i="0">
                <a:solidFill>
                  <a:srgbClr val="BECD7E"/>
                </a:solidFill>
                <a:latin typeface="Aptos"/>
              </a:rPr>
              <a:t>Paldies par uzmanību!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